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3" r:id="rId1"/>
  </p:sldMasterIdLst>
  <p:sldIdLst>
    <p:sldId id="256" r:id="rId2"/>
    <p:sldId id="258" r:id="rId3"/>
    <p:sldId id="257" r:id="rId4"/>
    <p:sldId id="269" r:id="rId5"/>
    <p:sldId id="259" r:id="rId6"/>
    <p:sldId id="260" r:id="rId7"/>
    <p:sldId id="262" r:id="rId8"/>
    <p:sldId id="263" r:id="rId9"/>
    <p:sldId id="264" r:id="rId10"/>
    <p:sldId id="265" r:id="rId11"/>
    <p:sldId id="266" r:id="rId12"/>
    <p:sldId id="267" r:id="rId13"/>
    <p:sldId id="268"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EC743F4-8769-40B4-85DF-6CB8DE9F66AA}"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5455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743F4-8769-40B4-85DF-6CB8DE9F66AA}"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162697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C743F4-8769-40B4-85DF-6CB8DE9F66AA}" type="datetimeFigureOut">
              <a:rPr lang="en-US" smtClean="0"/>
              <a:t>3/25/2026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43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C743F4-8769-40B4-85DF-6CB8DE9F66AA}"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202665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C743F4-8769-40B4-85DF-6CB8DE9F66AA}"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723889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C743F4-8769-40B4-85DF-6CB8DE9F66AA}"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35171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C743F4-8769-40B4-85DF-6CB8DE9F66AA}"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928979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C743F4-8769-40B4-85DF-6CB8DE9F66AA}"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568263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C743F4-8769-40B4-85DF-6CB8DE9F66AA}"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2BD96E-3838-45D2-9031-D3AF67C920A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1912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743F4-8769-40B4-85DF-6CB8DE9F66AA}"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677618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743F4-8769-40B4-85DF-6CB8DE9F66AA}"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770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EC743F4-8769-40B4-85DF-6CB8DE9F66AA}" type="datetimeFigureOut">
              <a:rPr lang="en-US" smtClean="0"/>
              <a:pPr/>
              <a:t>3/25/2026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F2BD96E-3838-45D2-9031-D3AF67C920A5}"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2455388"/>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4" name="Straight Connector 53">
            <a:extLst>
              <a:ext uri="{FF2B5EF4-FFF2-40B4-BE49-F238E27FC236}">
                <a16:creationId xmlns:a16="http://schemas.microsoft.com/office/drawing/2014/main" id="{15F1CC53-719A-4763-BF30-5E25A63CEF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C1A9B9E1-AE3D-4F69-9670-71C92ED1B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rgbClr val="6C6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5E8EC61-A589-7E33-18FF-586CA29C9320}"/>
              </a:ext>
            </a:extLst>
          </p:cNvPr>
          <p:cNvSpPr>
            <a:spLocks noGrp="1"/>
          </p:cNvSpPr>
          <p:nvPr>
            <p:ph type="title"/>
          </p:nvPr>
        </p:nvSpPr>
        <p:spPr>
          <a:xfrm>
            <a:off x="1024129" y="585216"/>
            <a:ext cx="3779085" cy="1499616"/>
          </a:xfrm>
        </p:spPr>
        <p:txBody>
          <a:bodyPr vert="horz" lIns="91440" tIns="45720" rIns="91440" bIns="45720" rtlCol="0" anchor="ctr" anchorCtr="0">
            <a:normAutofit/>
          </a:bodyPr>
          <a:lstStyle/>
          <a:p>
            <a:pPr algn="l"/>
            <a:r>
              <a:rPr lang="en-US" spc="100" dirty="0">
                <a:solidFill>
                  <a:srgbClr val="FFFFFF"/>
                </a:solidFill>
              </a:rPr>
              <a:t>BIKE RENTAL ANALYSIS </a:t>
            </a:r>
          </a:p>
        </p:txBody>
      </p:sp>
      <p:cxnSp>
        <p:nvCxnSpPr>
          <p:cNvPr id="58" name="Straight Connector 57">
            <a:extLst>
              <a:ext uri="{FF2B5EF4-FFF2-40B4-BE49-F238E27FC236}">
                <a16:creationId xmlns:a16="http://schemas.microsoft.com/office/drawing/2014/main" id="{3234ED8A-BEE3-4F34-B45B-731E1E292E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01552093-5030-7ABE-30B3-F18331984FDB}"/>
              </a:ext>
            </a:extLst>
          </p:cNvPr>
          <p:cNvSpPr>
            <a:spLocks noGrp="1"/>
          </p:cNvSpPr>
          <p:nvPr>
            <p:ph type="body" sz="half" idx="2"/>
          </p:nvPr>
        </p:nvSpPr>
        <p:spPr>
          <a:xfrm>
            <a:off x="1024129" y="2286000"/>
            <a:ext cx="3791711" cy="3931920"/>
          </a:xfrm>
        </p:spPr>
        <p:txBody>
          <a:bodyPr vert="horz" lIns="45720" tIns="45720" rIns="45720" bIns="45720" rtlCol="0">
            <a:normAutofit/>
          </a:bodyPr>
          <a:lstStyle/>
          <a:p>
            <a:pPr algn="just">
              <a:lnSpc>
                <a:spcPct val="90000"/>
              </a:lnSpc>
            </a:pPr>
            <a:r>
              <a:rPr lang="en-US" dirty="0">
                <a:solidFill>
                  <a:schemeClr val="bg1"/>
                </a:solidFill>
              </a:rPr>
              <a:t>This presentation offers a comprehensive overview of bike rental patterns, examining the trends and behaviors associated with these rentals. </a:t>
            </a:r>
          </a:p>
          <a:p>
            <a:pPr algn="just">
              <a:lnSpc>
                <a:spcPct val="90000"/>
              </a:lnSpc>
            </a:pPr>
            <a:endParaRPr lang="en-US" dirty="0">
              <a:solidFill>
                <a:schemeClr val="bg1"/>
              </a:solidFill>
            </a:endParaRPr>
          </a:p>
          <a:p>
            <a:pPr algn="just">
              <a:lnSpc>
                <a:spcPct val="90000"/>
              </a:lnSpc>
            </a:pPr>
            <a:r>
              <a:rPr lang="en-US" dirty="0">
                <a:solidFill>
                  <a:schemeClr val="bg1"/>
                </a:solidFill>
              </a:rPr>
              <a:t>It will provide an analysis of several key factors that influence rental outcomes, including temporal dynamics, weather conditions, and other contextual variables.</a:t>
            </a:r>
          </a:p>
        </p:txBody>
      </p:sp>
      <p:pic>
        <p:nvPicPr>
          <p:cNvPr id="40" name="Picture 39">
            <a:extLst>
              <a:ext uri="{FF2B5EF4-FFF2-40B4-BE49-F238E27FC236}">
                <a16:creationId xmlns:a16="http://schemas.microsoft.com/office/drawing/2014/main" id="{147062EA-9C20-5204-6875-CCB8808734AE}"/>
              </a:ext>
            </a:extLst>
          </p:cNvPr>
          <p:cNvPicPr>
            <a:picLocks noChangeAspect="1"/>
          </p:cNvPicPr>
          <p:nvPr/>
        </p:nvPicPr>
        <p:blipFill>
          <a:blip r:embed="rId2">
            <a:extLst>
              <a:ext uri="{28A0092B-C50C-407E-A947-70E740481C1C}">
                <a14:useLocalDpi xmlns:a14="http://schemas.microsoft.com/office/drawing/2010/main" val="0"/>
              </a:ext>
            </a:extLst>
          </a:blip>
          <a:srcRect t="1874" b="3351"/>
          <a:stretch>
            <a:fillRect/>
          </a:stretch>
        </p:blipFill>
        <p:spPr>
          <a:xfrm>
            <a:off x="6096000" y="585216"/>
            <a:ext cx="5455921" cy="5632704"/>
          </a:xfrm>
          <a:prstGeom prst="rect">
            <a:avLst/>
          </a:prstGeom>
        </p:spPr>
      </p:pic>
    </p:spTree>
    <p:extLst>
      <p:ext uri="{BB962C8B-B14F-4D97-AF65-F5344CB8AC3E}">
        <p14:creationId xmlns:p14="http://schemas.microsoft.com/office/powerpoint/2010/main" val="156761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4" name="Straight Connector 53">
            <a:extLst>
              <a:ext uri="{FF2B5EF4-FFF2-40B4-BE49-F238E27FC236}">
                <a16:creationId xmlns:a16="http://schemas.microsoft.com/office/drawing/2014/main" id="{15F1CC53-719A-4763-BF30-5E25A63CEF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242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936B0E1D-7750-3868-F528-15761B15A4A5}"/>
              </a:ext>
            </a:extLst>
          </p:cNvPr>
          <p:cNvSpPr>
            <a:spLocks noGrp="1"/>
          </p:cNvSpPr>
          <p:nvPr>
            <p:ph type="title"/>
          </p:nvPr>
        </p:nvSpPr>
        <p:spPr>
          <a:xfrm>
            <a:off x="524256" y="4767072"/>
            <a:ext cx="6594189" cy="1625210"/>
          </a:xfrm>
        </p:spPr>
        <p:txBody>
          <a:bodyPr vert="horz" lIns="91440" tIns="45720" rIns="91440" bIns="45720" rtlCol="0" anchor="ctr">
            <a:normAutofit/>
          </a:bodyPr>
          <a:lstStyle/>
          <a:p>
            <a:pPr algn="ctr"/>
            <a:r>
              <a:rPr lang="en-US" dirty="0">
                <a:solidFill>
                  <a:srgbClr val="FFFFFF"/>
                </a:solidFill>
              </a:rPr>
              <a:t>Datasets and objectives</a:t>
            </a:r>
          </a:p>
        </p:txBody>
      </p:sp>
      <p:pic>
        <p:nvPicPr>
          <p:cNvPr id="25" name="Content Placeholder 24">
            <a:extLst>
              <a:ext uri="{FF2B5EF4-FFF2-40B4-BE49-F238E27FC236}">
                <a16:creationId xmlns:a16="http://schemas.microsoft.com/office/drawing/2014/main" id="{1567CA06-EDFB-66FB-5E3B-6C1715A2461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l="16655" r="22769" b="-2"/>
          <a:stretch>
            <a:fillRect/>
          </a:stretch>
        </p:blipFill>
        <p:spPr>
          <a:xfrm>
            <a:off x="327547" y="321733"/>
            <a:ext cx="7058306" cy="4107392"/>
          </a:xfrm>
          <a:prstGeom prst="rect">
            <a:avLst/>
          </a:prstGeom>
        </p:spPr>
      </p:pic>
      <p:sp>
        <p:nvSpPr>
          <p:cNvPr id="55" name="Rectangle 54">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90B67573-434F-7BDE-F097-5748CFAD1160}"/>
              </a:ext>
            </a:extLst>
          </p:cNvPr>
          <p:cNvSpPr>
            <a:spLocks noGrp="1"/>
          </p:cNvSpPr>
          <p:nvPr>
            <p:ph sz="half" idx="1"/>
          </p:nvPr>
        </p:nvSpPr>
        <p:spPr>
          <a:xfrm>
            <a:off x="7582563" y="321732"/>
            <a:ext cx="4281890" cy="6214534"/>
          </a:xfrm>
        </p:spPr>
        <p:txBody>
          <a:bodyPr vert="horz" lIns="45720" tIns="45720" rIns="45720" bIns="45720" rtlCol="0" anchor="ctr">
            <a:normAutofit/>
          </a:bodyPr>
          <a:lstStyle/>
          <a:p>
            <a:pPr algn="just">
              <a:buFont typeface="Wingdings" panose="05000000000000000000" pitchFamily="2" charset="2"/>
              <a:buChar char="v"/>
            </a:pPr>
            <a:r>
              <a:rPr lang="en-US" sz="2000" b="1" dirty="0">
                <a:solidFill>
                  <a:schemeClr val="accent3"/>
                </a:solidFill>
              </a:rPr>
              <a:t>Temporal Patterns- </a:t>
            </a:r>
            <a:r>
              <a:rPr lang="en-US" sz="2000" dirty="0">
                <a:solidFill>
                  <a:srgbClr val="FFFFFF"/>
                </a:solidFill>
              </a:rPr>
              <a:t>indexed by specific details like </a:t>
            </a:r>
            <a:r>
              <a:rPr lang="en-US" sz="2000" b="1" dirty="0">
                <a:solidFill>
                  <a:schemeClr val="accent3"/>
                </a:solidFill>
              </a:rPr>
              <a:t>hour, day, date, weekends/weekdays, season, and holiday</a:t>
            </a:r>
            <a:r>
              <a:rPr lang="en-US" sz="2000" dirty="0">
                <a:solidFill>
                  <a:srgbClr val="FFFFFF"/>
                </a:solidFill>
              </a:rPr>
              <a:t> help analyze rental trends and usage patterns over different timescales and their effect on bike rentals.</a:t>
            </a:r>
          </a:p>
          <a:p>
            <a:pPr algn="just">
              <a:buFont typeface="Wingdings" panose="05000000000000000000" pitchFamily="2" charset="2"/>
              <a:buChar char="v"/>
            </a:pPr>
            <a:r>
              <a:rPr lang="en-US" sz="2000" b="1" dirty="0">
                <a:solidFill>
                  <a:schemeClr val="accent3"/>
                </a:solidFill>
              </a:rPr>
              <a:t>Weather Impact- </a:t>
            </a:r>
            <a:r>
              <a:rPr lang="en-US" sz="2000" dirty="0">
                <a:solidFill>
                  <a:srgbClr val="FFFFFF"/>
                </a:solidFill>
              </a:rPr>
              <a:t>includes comprehensive data of </a:t>
            </a:r>
            <a:r>
              <a:rPr lang="en-US" sz="2000" b="1" dirty="0">
                <a:solidFill>
                  <a:schemeClr val="accent3"/>
                </a:solidFill>
              </a:rPr>
              <a:t>weather situations, humidity, temperature, assumed temperature (</a:t>
            </a:r>
            <a:r>
              <a:rPr lang="en-US" sz="2000" b="1" dirty="0" err="1">
                <a:solidFill>
                  <a:schemeClr val="accent3"/>
                </a:solidFill>
              </a:rPr>
              <a:t>atemp</a:t>
            </a:r>
            <a:r>
              <a:rPr lang="en-US" sz="2000" b="1" dirty="0">
                <a:solidFill>
                  <a:schemeClr val="accent3"/>
                </a:solidFill>
              </a:rPr>
              <a:t>), windspeed</a:t>
            </a:r>
            <a:r>
              <a:rPr lang="en-US" sz="2000" dirty="0">
                <a:solidFill>
                  <a:srgbClr val="FFFFFF"/>
                </a:solidFill>
              </a:rPr>
              <a:t>, that helps evaluate different variables and their influence, facilitating insights on weather- related fluctuations</a:t>
            </a:r>
          </a:p>
          <a:p>
            <a:pPr algn="just">
              <a:buFont typeface="Wingdings" panose="05000000000000000000" pitchFamily="2" charset="2"/>
              <a:buChar char="v"/>
            </a:pPr>
            <a:r>
              <a:rPr lang="en-US" sz="2000" b="1" dirty="0">
                <a:solidFill>
                  <a:schemeClr val="accent3"/>
                </a:solidFill>
              </a:rPr>
              <a:t>User Segment-  </a:t>
            </a:r>
            <a:r>
              <a:rPr lang="en-US" sz="2000" dirty="0">
                <a:solidFill>
                  <a:srgbClr val="FFFFFF"/>
                </a:solidFill>
              </a:rPr>
              <a:t>supports analysis</a:t>
            </a:r>
            <a:r>
              <a:rPr lang="en-US" sz="2000" b="1" dirty="0">
                <a:solidFill>
                  <a:srgbClr val="FFFFFF"/>
                </a:solidFill>
              </a:rPr>
              <a:t> of </a:t>
            </a:r>
            <a:r>
              <a:rPr lang="en-US" sz="2000" dirty="0">
                <a:solidFill>
                  <a:srgbClr val="FFFFFF"/>
                </a:solidFill>
              </a:rPr>
              <a:t>usage patterns </a:t>
            </a:r>
            <a:r>
              <a:rPr lang="en-US" sz="2000" b="1" dirty="0">
                <a:solidFill>
                  <a:schemeClr val="accent3"/>
                </a:solidFill>
              </a:rPr>
              <a:t>of casual and registered</a:t>
            </a:r>
            <a:r>
              <a:rPr lang="en-US" sz="2000" dirty="0">
                <a:solidFill>
                  <a:srgbClr val="FFFFFF"/>
                </a:solidFill>
              </a:rPr>
              <a:t> users and their preferences, revealing distinct patterns and behavioral trends. </a:t>
            </a:r>
            <a:endParaRPr lang="en-US" sz="2000" b="1" dirty="0">
              <a:solidFill>
                <a:srgbClr val="FFFFFF"/>
              </a:solidFill>
            </a:endParaRPr>
          </a:p>
        </p:txBody>
      </p:sp>
    </p:spTree>
    <p:extLst>
      <p:ext uri="{BB962C8B-B14F-4D97-AF65-F5344CB8AC3E}">
        <p14:creationId xmlns:p14="http://schemas.microsoft.com/office/powerpoint/2010/main" val="3390869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4F7D11-78AC-ABF0-0222-21FD97B82DB7}"/>
              </a:ext>
            </a:extLst>
          </p:cNvPr>
          <p:cNvSpPr>
            <a:spLocks noGrp="1"/>
          </p:cNvSpPr>
          <p:nvPr>
            <p:ph type="title"/>
          </p:nvPr>
        </p:nvSpPr>
        <p:spPr>
          <a:xfrm>
            <a:off x="0" y="0"/>
            <a:ext cx="12192000" cy="1266940"/>
          </a:xfrm>
        </p:spPr>
        <p:txBody>
          <a:bodyPr/>
          <a:lstStyle/>
          <a:p>
            <a:pPr algn="ctr"/>
            <a:r>
              <a:rPr lang="en-IN" dirty="0"/>
              <a:t>Data analysis and visualization</a:t>
            </a:r>
          </a:p>
        </p:txBody>
      </p:sp>
      <p:sp>
        <p:nvSpPr>
          <p:cNvPr id="6" name="Content Placeholder 5">
            <a:extLst>
              <a:ext uri="{FF2B5EF4-FFF2-40B4-BE49-F238E27FC236}">
                <a16:creationId xmlns:a16="http://schemas.microsoft.com/office/drawing/2014/main" id="{B386C682-F618-0ADC-AF73-B5A6754EE569}"/>
              </a:ext>
            </a:extLst>
          </p:cNvPr>
          <p:cNvSpPr>
            <a:spLocks noGrp="1"/>
          </p:cNvSpPr>
          <p:nvPr>
            <p:ph sz="half" idx="2"/>
          </p:nvPr>
        </p:nvSpPr>
        <p:spPr>
          <a:xfrm>
            <a:off x="6413182" y="1266940"/>
            <a:ext cx="4754880" cy="5591060"/>
          </a:xfrm>
        </p:spPr>
        <p:txBody>
          <a:bodyPr>
            <a:normAutofit fontScale="85000" lnSpcReduction="20000"/>
          </a:bodyPr>
          <a:lstStyle/>
          <a:p>
            <a:pPr algn="ctr"/>
            <a:r>
              <a:rPr lang="en-IN" sz="3200" dirty="0"/>
              <a:t>Data Visualization</a:t>
            </a:r>
            <a:endParaRPr lang="en-IN" sz="3100" dirty="0"/>
          </a:p>
          <a:p>
            <a:pPr algn="just">
              <a:buFont typeface="Arial" panose="020B0604020202020204" pitchFamily="34" charset="0"/>
              <a:buChar char="•"/>
            </a:pPr>
            <a:r>
              <a:rPr lang="en-IN" sz="3100" dirty="0"/>
              <a:t>Comprehensive visualization, like </a:t>
            </a:r>
            <a:r>
              <a:rPr lang="en-IN" sz="3100" b="1" dirty="0">
                <a:solidFill>
                  <a:schemeClr val="accent2"/>
                </a:solidFill>
              </a:rPr>
              <a:t>Line Graph, Pie Chart, Scatter Plot</a:t>
            </a:r>
            <a:r>
              <a:rPr lang="en-IN" sz="3100" dirty="0"/>
              <a:t>, etc., created using </a:t>
            </a:r>
            <a:r>
              <a:rPr lang="en-IN" sz="3100" b="1" dirty="0">
                <a:solidFill>
                  <a:schemeClr val="accent2"/>
                </a:solidFill>
              </a:rPr>
              <a:t>Pivot Charts</a:t>
            </a:r>
            <a:r>
              <a:rPr lang="en-IN" sz="3100" dirty="0"/>
              <a:t>, is used to represent the data insights. To have in-depth insight, </a:t>
            </a:r>
            <a:r>
              <a:rPr lang="en-IN" sz="3100" b="1" dirty="0">
                <a:solidFill>
                  <a:schemeClr val="accent2"/>
                </a:solidFill>
              </a:rPr>
              <a:t>Slicers</a:t>
            </a:r>
            <a:r>
              <a:rPr lang="en-IN" sz="3100" dirty="0"/>
              <a:t> and </a:t>
            </a:r>
            <a:r>
              <a:rPr lang="en-IN" sz="3100" b="1" dirty="0">
                <a:solidFill>
                  <a:schemeClr val="accent2"/>
                </a:solidFill>
              </a:rPr>
              <a:t>Timelines</a:t>
            </a:r>
            <a:r>
              <a:rPr lang="en-IN" sz="3100" dirty="0"/>
              <a:t> are added.</a:t>
            </a:r>
          </a:p>
          <a:p>
            <a:pPr algn="just">
              <a:buFont typeface="Arial" panose="020B0604020202020204" pitchFamily="34" charset="0"/>
              <a:buChar char="•"/>
            </a:pPr>
            <a:r>
              <a:rPr lang="en-IN" sz="3100" dirty="0"/>
              <a:t>Create an interactive </a:t>
            </a:r>
            <a:r>
              <a:rPr lang="en-IN" sz="3100" b="1" dirty="0">
                <a:solidFill>
                  <a:schemeClr val="accent2"/>
                </a:solidFill>
              </a:rPr>
              <a:t>Dashboard</a:t>
            </a:r>
            <a:r>
              <a:rPr lang="en-IN" sz="3100" dirty="0"/>
              <a:t> using these pivot tables and charts</a:t>
            </a:r>
          </a:p>
          <a:p>
            <a:pPr algn="just">
              <a:buFont typeface="Arial" panose="020B0604020202020204" pitchFamily="34" charset="0"/>
              <a:buChar char="•"/>
            </a:pPr>
            <a:r>
              <a:rPr lang="en-IN" sz="3100" dirty="0"/>
              <a:t>These charting techniques are used to highlight underlying patterns and relationships between the variables of the data.</a:t>
            </a:r>
          </a:p>
          <a:p>
            <a:pPr algn="just">
              <a:buFont typeface="Arial" panose="020B0604020202020204" pitchFamily="34" charset="0"/>
              <a:buChar char="•"/>
            </a:pPr>
            <a:endParaRPr lang="en-IN" sz="3200" dirty="0"/>
          </a:p>
        </p:txBody>
      </p:sp>
      <p:sp>
        <p:nvSpPr>
          <p:cNvPr id="9" name="Content Placeholder 8">
            <a:extLst>
              <a:ext uri="{FF2B5EF4-FFF2-40B4-BE49-F238E27FC236}">
                <a16:creationId xmlns:a16="http://schemas.microsoft.com/office/drawing/2014/main" id="{00284C22-552C-671E-2BF7-257A4F25196A}"/>
              </a:ext>
            </a:extLst>
          </p:cNvPr>
          <p:cNvSpPr>
            <a:spLocks noGrp="1"/>
          </p:cNvSpPr>
          <p:nvPr>
            <p:ph sz="half" idx="1"/>
          </p:nvPr>
        </p:nvSpPr>
        <p:spPr>
          <a:xfrm>
            <a:off x="793214" y="1266939"/>
            <a:ext cx="4985793" cy="5706738"/>
          </a:xfrm>
        </p:spPr>
        <p:txBody>
          <a:bodyPr>
            <a:normAutofit fontScale="85000" lnSpcReduction="20000"/>
          </a:bodyPr>
          <a:lstStyle/>
          <a:p>
            <a:pPr lvl="0" algn="ctr"/>
            <a:r>
              <a:rPr lang="en-IN" sz="3300" dirty="0"/>
              <a:t>Data</a:t>
            </a:r>
            <a:r>
              <a:rPr lang="en-IN" sz="2400" dirty="0"/>
              <a:t> </a:t>
            </a:r>
            <a:r>
              <a:rPr lang="en-IN" sz="3300" dirty="0"/>
              <a:t>Analysis</a:t>
            </a:r>
            <a:endParaRPr lang="en-IN" sz="2400" dirty="0"/>
          </a:p>
          <a:p>
            <a:pPr lvl="1" algn="just"/>
            <a:r>
              <a:rPr lang="en-US" dirty="0"/>
              <a:t>1</a:t>
            </a:r>
            <a:r>
              <a:rPr lang="en-US" b="1" dirty="0">
                <a:solidFill>
                  <a:srgbClr val="FF0000"/>
                </a:solidFill>
              </a:rPr>
              <a:t>. </a:t>
            </a:r>
            <a:r>
              <a:rPr lang="en-US" sz="3000" b="1" dirty="0">
                <a:solidFill>
                  <a:schemeClr val="accent2"/>
                </a:solidFill>
              </a:rPr>
              <a:t>Clean and organize </a:t>
            </a:r>
            <a:r>
              <a:rPr lang="en-US" sz="3000" dirty="0"/>
              <a:t>the raw data by removing duplicates, applying filters, filling missing values, formatting, and using functions to eliminate inconsistencies.</a:t>
            </a:r>
            <a:endParaRPr lang="en-IN" sz="3000" dirty="0"/>
          </a:p>
          <a:p>
            <a:pPr lvl="1" algn="just"/>
            <a:r>
              <a:rPr lang="en-US" sz="3000" dirty="0"/>
              <a:t>2. </a:t>
            </a:r>
            <a:r>
              <a:rPr lang="en-US" sz="3000" b="1" dirty="0">
                <a:solidFill>
                  <a:schemeClr val="accent2"/>
                </a:solidFill>
              </a:rPr>
              <a:t>Merge</a:t>
            </a:r>
            <a:r>
              <a:rPr lang="en-US" sz="3000" dirty="0"/>
              <a:t> dataset 1 and dataset 2 to create dataset A, then </a:t>
            </a:r>
            <a:r>
              <a:rPr lang="en-US" sz="3000" b="1" dirty="0">
                <a:solidFill>
                  <a:schemeClr val="accent2"/>
                </a:solidFill>
              </a:rPr>
              <a:t>Append</a:t>
            </a:r>
            <a:r>
              <a:rPr lang="en-US" sz="3000" dirty="0"/>
              <a:t> dataset A and dataset 3 to generate the final dataset using </a:t>
            </a:r>
            <a:r>
              <a:rPr lang="en-US" sz="3000" b="1" dirty="0">
                <a:solidFill>
                  <a:schemeClr val="accent2"/>
                </a:solidFill>
              </a:rPr>
              <a:t>Power Query,</a:t>
            </a:r>
            <a:r>
              <a:rPr lang="en-US" sz="3000" dirty="0"/>
              <a:t> and repeat the process of cleaning on dataset A and the final dataset. </a:t>
            </a:r>
            <a:endParaRPr lang="en-IN" sz="3000" dirty="0"/>
          </a:p>
          <a:p>
            <a:pPr lvl="1" algn="just"/>
            <a:r>
              <a:rPr lang="en-US" sz="3000" dirty="0"/>
              <a:t>3. Apply </a:t>
            </a:r>
            <a:r>
              <a:rPr lang="en-US" sz="3000" b="1" dirty="0">
                <a:solidFill>
                  <a:schemeClr val="accent2"/>
                </a:solidFill>
              </a:rPr>
              <a:t>correlation [=</a:t>
            </a:r>
            <a:r>
              <a:rPr lang="en-US" sz="3000" b="1" dirty="0" err="1">
                <a:solidFill>
                  <a:schemeClr val="accent2"/>
                </a:solidFill>
              </a:rPr>
              <a:t>corre</a:t>
            </a:r>
            <a:r>
              <a:rPr lang="en-US" sz="3000" b="1" dirty="0">
                <a:solidFill>
                  <a:schemeClr val="accent2"/>
                </a:solidFill>
              </a:rPr>
              <a:t>()]</a:t>
            </a:r>
            <a:r>
              <a:rPr lang="en-US" sz="3000" dirty="0"/>
              <a:t> and </a:t>
            </a:r>
            <a:r>
              <a:rPr lang="en-US" sz="3000" b="1" dirty="0">
                <a:solidFill>
                  <a:schemeClr val="accent2"/>
                </a:solidFill>
              </a:rPr>
              <a:t>standard deviation [=</a:t>
            </a:r>
            <a:r>
              <a:rPr lang="en-US" sz="3000" b="1" dirty="0" err="1">
                <a:solidFill>
                  <a:schemeClr val="accent2"/>
                </a:solidFill>
              </a:rPr>
              <a:t>std.s</a:t>
            </a:r>
            <a:r>
              <a:rPr lang="en-US" sz="3000" b="1" dirty="0">
                <a:solidFill>
                  <a:schemeClr val="accent2"/>
                </a:solidFill>
              </a:rPr>
              <a:t>()] </a:t>
            </a:r>
            <a:r>
              <a:rPr lang="en-US" sz="3000" dirty="0"/>
              <a:t>techniques to explore and identify patterns within the data.</a:t>
            </a:r>
            <a:endParaRPr lang="en-IN" sz="3000" dirty="0"/>
          </a:p>
          <a:p>
            <a:endParaRPr lang="en-IN" dirty="0"/>
          </a:p>
        </p:txBody>
      </p:sp>
    </p:spTree>
    <p:extLst>
      <p:ext uri="{BB962C8B-B14F-4D97-AF65-F5344CB8AC3E}">
        <p14:creationId xmlns:p14="http://schemas.microsoft.com/office/powerpoint/2010/main" val="3703844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37663D-8D62-C2D6-27EB-9BC41AC1630D}"/>
              </a:ext>
            </a:extLst>
          </p:cNvPr>
          <p:cNvSpPr>
            <a:spLocks noGrp="1"/>
          </p:cNvSpPr>
          <p:nvPr>
            <p:ph type="title"/>
          </p:nvPr>
        </p:nvSpPr>
        <p:spPr>
          <a:xfrm>
            <a:off x="1235964" y="500742"/>
            <a:ext cx="9720072" cy="1499616"/>
          </a:xfrm>
        </p:spPr>
        <p:txBody>
          <a:bodyPr>
            <a:normAutofit/>
          </a:bodyPr>
          <a:lstStyle/>
          <a:p>
            <a:pPr algn="ctr"/>
            <a:r>
              <a:rPr lang="en-IN" sz="8000" dirty="0"/>
              <a:t>DASHBOARD</a:t>
            </a:r>
          </a:p>
        </p:txBody>
      </p:sp>
      <p:pic>
        <p:nvPicPr>
          <p:cNvPr id="7" name="Picture 6">
            <a:extLst>
              <a:ext uri="{FF2B5EF4-FFF2-40B4-BE49-F238E27FC236}">
                <a16:creationId xmlns:a16="http://schemas.microsoft.com/office/drawing/2014/main" id="{F07CA668-5C7D-7E39-17B3-6D3497D99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897" y="1492150"/>
            <a:ext cx="11786206" cy="4734479"/>
          </a:xfrm>
          <a:prstGeom prst="rect">
            <a:avLst/>
          </a:prstGeom>
        </p:spPr>
      </p:pic>
    </p:spTree>
    <p:extLst>
      <p:ext uri="{BB962C8B-B14F-4D97-AF65-F5344CB8AC3E}">
        <p14:creationId xmlns:p14="http://schemas.microsoft.com/office/powerpoint/2010/main" val="4287173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CBDDD243-ED5F-4896-B18B-ABCF4B7E1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19E6BB3-DF2B-4751-97C5-B3DB949AE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1998"/>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5218A1-45A8-6553-E6A4-10A190EF3E28}"/>
              </a:ext>
            </a:extLst>
          </p:cNvPr>
          <p:cNvSpPr>
            <a:spLocks noGrp="1"/>
          </p:cNvSpPr>
          <p:nvPr>
            <p:ph type="title"/>
          </p:nvPr>
        </p:nvSpPr>
        <p:spPr>
          <a:xfrm>
            <a:off x="1024128" y="4911819"/>
            <a:ext cx="9720072" cy="1499616"/>
          </a:xfrm>
        </p:spPr>
        <p:txBody>
          <a:bodyPr vert="horz" lIns="91440" tIns="45720" rIns="91440" bIns="45720" rtlCol="0" anchor="ctr">
            <a:normAutofit/>
          </a:bodyPr>
          <a:lstStyle/>
          <a:p>
            <a:r>
              <a:rPr lang="en-US">
                <a:solidFill>
                  <a:srgbClr val="FFFFFF"/>
                </a:solidFill>
              </a:rPr>
              <a:t>TOTAL RENTALS AND USER SEGMENTS…</a:t>
            </a:r>
          </a:p>
        </p:txBody>
      </p:sp>
      <p:sp>
        <p:nvSpPr>
          <p:cNvPr id="9" name="Content Placeholder 8">
            <a:extLst>
              <a:ext uri="{FF2B5EF4-FFF2-40B4-BE49-F238E27FC236}">
                <a16:creationId xmlns:a16="http://schemas.microsoft.com/office/drawing/2014/main" id="{28EB7FF8-3964-E222-D711-42DEE6D927FA}"/>
              </a:ext>
            </a:extLst>
          </p:cNvPr>
          <p:cNvSpPr>
            <a:spLocks noGrp="1"/>
          </p:cNvSpPr>
          <p:nvPr>
            <p:ph sz="half" idx="1"/>
          </p:nvPr>
        </p:nvSpPr>
        <p:spPr>
          <a:xfrm>
            <a:off x="1024129" y="643467"/>
            <a:ext cx="4750138" cy="3606798"/>
          </a:xfrm>
        </p:spPr>
        <p:txBody>
          <a:bodyPr vert="horz" lIns="45720" tIns="45720" rIns="45720" bIns="45720" rtlCol="0" anchor="ctr">
            <a:normAutofit lnSpcReduction="10000"/>
          </a:bodyPr>
          <a:lstStyle/>
          <a:p>
            <a:pPr algn="just">
              <a:buFont typeface="Wingdings" panose="05000000000000000000" pitchFamily="2" charset="2"/>
              <a:buChar char="q"/>
            </a:pPr>
            <a:r>
              <a:rPr lang="en-US" sz="2000" dirty="0"/>
              <a:t>Total Rentals- represents the overall count of rentals recorded, indicating demand and usage across the period.</a:t>
            </a:r>
          </a:p>
          <a:p>
            <a:pPr algn="just">
              <a:buFont typeface="Wingdings" panose="05000000000000000000" pitchFamily="2" charset="2"/>
              <a:buChar char="q"/>
            </a:pPr>
            <a:r>
              <a:rPr lang="en-US" sz="2000" dirty="0"/>
              <a:t>Casual Rentals-  they are significantly fewer, showing that occasional users make up a smaller portion of total activity. Here, a maximum of 62 rentals were recorded in a single hour.</a:t>
            </a:r>
          </a:p>
          <a:p>
            <a:pPr algn="just">
              <a:buFont typeface="Wingdings" panose="05000000000000000000" pitchFamily="2" charset="2"/>
              <a:buChar char="q"/>
            </a:pPr>
            <a:r>
              <a:rPr lang="en-US" sz="2000" dirty="0"/>
              <a:t>Registered Rentals- It highlights a strong base of customers. It suggests that registered users contribute the most, and targeting them might optimize business strategies. </a:t>
            </a:r>
          </a:p>
        </p:txBody>
      </p:sp>
      <p:pic>
        <p:nvPicPr>
          <p:cNvPr id="12" name="Content Placeholder 11">
            <a:extLst>
              <a:ext uri="{FF2B5EF4-FFF2-40B4-BE49-F238E27FC236}">
                <a16:creationId xmlns:a16="http://schemas.microsoft.com/office/drawing/2014/main" id="{3C4850AD-7272-A0E0-FA64-18478D5BBEA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7734" y="1885312"/>
            <a:ext cx="4747090" cy="1123107"/>
          </a:xfrm>
          <a:prstGeom prst="rect">
            <a:avLst/>
          </a:prstGeom>
        </p:spPr>
      </p:pic>
      <p:cxnSp>
        <p:nvCxnSpPr>
          <p:cNvPr id="23" name="Straight Connector 22">
            <a:extLst>
              <a:ext uri="{FF2B5EF4-FFF2-40B4-BE49-F238E27FC236}">
                <a16:creationId xmlns:a16="http://schemas.microsoft.com/office/drawing/2014/main" id="{A61721DD-D110-44EE-82A7-D56AB687E6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5204427"/>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3892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FC94B68-09D2-1646-3A7F-05AA8759ED29}"/>
              </a:ext>
            </a:extLst>
          </p:cNvPr>
          <p:cNvSpPr>
            <a:spLocks noGrp="1"/>
          </p:cNvSpPr>
          <p:nvPr>
            <p:ph type="title"/>
          </p:nvPr>
        </p:nvSpPr>
        <p:spPr>
          <a:xfrm>
            <a:off x="1024128" y="585216"/>
            <a:ext cx="5867061" cy="1499616"/>
          </a:xfrm>
        </p:spPr>
        <p:txBody>
          <a:bodyPr vert="horz" lIns="91440" tIns="45720" rIns="91440" bIns="45720" rtlCol="0" anchor="ctr">
            <a:normAutofit/>
          </a:bodyPr>
          <a:lstStyle/>
          <a:p>
            <a:r>
              <a:rPr lang="en-US"/>
              <a:t>HOURLY RENTAL TRENDS AND PEAK TIMES</a:t>
            </a:r>
          </a:p>
        </p:txBody>
      </p:sp>
      <p:pic>
        <p:nvPicPr>
          <p:cNvPr id="10" name="Content Placeholder 9">
            <a:extLst>
              <a:ext uri="{FF2B5EF4-FFF2-40B4-BE49-F238E27FC236}">
                <a16:creationId xmlns:a16="http://schemas.microsoft.com/office/drawing/2014/main" id="{0FDC0D69-7BFA-86C0-6224-198724316A4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42375" y="1972018"/>
            <a:ext cx="7292279" cy="4059657"/>
          </a:xfrm>
          <a:prstGeom prst="rect">
            <a:avLst/>
          </a:prstGeom>
        </p:spPr>
      </p:pic>
      <p:sp>
        <p:nvSpPr>
          <p:cNvPr id="26" name="Rectangle 25">
            <a:extLst>
              <a:ext uri="{FF2B5EF4-FFF2-40B4-BE49-F238E27FC236}">
                <a16:creationId xmlns:a16="http://schemas.microsoft.com/office/drawing/2014/main" id="{CA4D39DB-AFA4-47BA-A7F2-13A71D210C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2"/>
            <a:ext cx="4657344"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FFC16E-4617-2438-52BB-270CB69275B9}"/>
              </a:ext>
            </a:extLst>
          </p:cNvPr>
          <p:cNvSpPr>
            <a:spLocks noGrp="1"/>
          </p:cNvSpPr>
          <p:nvPr>
            <p:ph sz="half" idx="1"/>
          </p:nvPr>
        </p:nvSpPr>
        <p:spPr>
          <a:xfrm>
            <a:off x="7534654" y="0"/>
            <a:ext cx="4657344" cy="6858000"/>
          </a:xfrm>
        </p:spPr>
        <p:txBody>
          <a:bodyPr vert="horz" lIns="45720" tIns="45720" rIns="45720" bIns="45720" rtlCol="0" anchor="ctr">
            <a:normAutofit/>
          </a:bodyPr>
          <a:lstStyle/>
          <a:p>
            <a:pPr algn="just"/>
            <a:r>
              <a:rPr lang="en-US" sz="2400" dirty="0">
                <a:solidFill>
                  <a:srgbClr val="FFFFFF"/>
                </a:solidFill>
              </a:rPr>
              <a:t>This chart illustrates the pattern of total bike rentals throughout the day, segmented by user type into registered and casual users. It provides insights into peak rental hours and differences in user behavior across the day, helping to understand demand fluctuations over time.</a:t>
            </a:r>
          </a:p>
        </p:txBody>
      </p:sp>
    </p:spTree>
    <p:extLst>
      <p:ext uri="{BB962C8B-B14F-4D97-AF65-F5344CB8AC3E}">
        <p14:creationId xmlns:p14="http://schemas.microsoft.com/office/powerpoint/2010/main" val="2048760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15F1CC53-719A-4763-BF30-5E25A63CEF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3954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5D8E400C-F1F3-7781-3B1B-DB336AF32CC2}"/>
              </a:ext>
            </a:extLst>
          </p:cNvPr>
          <p:cNvSpPr>
            <a:spLocks noGrp="1"/>
          </p:cNvSpPr>
          <p:nvPr>
            <p:ph type="title"/>
          </p:nvPr>
        </p:nvSpPr>
        <p:spPr>
          <a:xfrm>
            <a:off x="524256" y="4767072"/>
            <a:ext cx="6594189" cy="1625210"/>
          </a:xfrm>
        </p:spPr>
        <p:txBody>
          <a:bodyPr vert="horz" lIns="91440" tIns="45720" rIns="91440" bIns="45720" rtlCol="0" anchor="ctr">
            <a:normAutofit/>
          </a:bodyPr>
          <a:lstStyle/>
          <a:p>
            <a:pPr algn="r"/>
            <a:r>
              <a:rPr lang="en-US" sz="5000">
                <a:solidFill>
                  <a:srgbClr val="FFFFFF"/>
                </a:solidFill>
              </a:rPr>
              <a:t>Weekend vs weekday patterns</a:t>
            </a:r>
          </a:p>
        </p:txBody>
      </p:sp>
      <p:pic>
        <p:nvPicPr>
          <p:cNvPr id="17" name="Content Placeholder 16">
            <a:extLst>
              <a:ext uri="{FF2B5EF4-FFF2-40B4-BE49-F238E27FC236}">
                <a16:creationId xmlns:a16="http://schemas.microsoft.com/office/drawing/2014/main" id="{0457823A-D60C-2FB6-0109-B000D7E6B23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7996" r="1" b="1"/>
          <a:stretch>
            <a:fillRect/>
          </a:stretch>
        </p:blipFill>
        <p:spPr>
          <a:xfrm>
            <a:off x="327547" y="321733"/>
            <a:ext cx="7058306" cy="4107392"/>
          </a:xfrm>
          <a:prstGeom prst="rect">
            <a:avLst/>
          </a:prstGeom>
        </p:spPr>
      </p:pic>
      <p:sp>
        <p:nvSpPr>
          <p:cNvPr id="30" name="Rectangle 29">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C8113C05-308C-34C6-F40F-08189651737C}"/>
              </a:ext>
            </a:extLst>
          </p:cNvPr>
          <p:cNvSpPr>
            <a:spLocks noGrp="1"/>
          </p:cNvSpPr>
          <p:nvPr>
            <p:ph type="body" sz="half" idx="2"/>
          </p:nvPr>
        </p:nvSpPr>
        <p:spPr>
          <a:xfrm>
            <a:off x="7534655" y="321732"/>
            <a:ext cx="4329798" cy="6214534"/>
          </a:xfrm>
        </p:spPr>
        <p:txBody>
          <a:bodyPr vert="horz" lIns="45720" tIns="45720" rIns="45720" bIns="45720" rtlCol="0" anchor="ctr">
            <a:normAutofit/>
          </a:bodyPr>
          <a:lstStyle/>
          <a:p>
            <a:pPr marL="285750" indent="-285750" algn="just">
              <a:lnSpc>
                <a:spcPct val="90000"/>
              </a:lnSpc>
              <a:buFont typeface="Arial" panose="020B0604020202020204" pitchFamily="34" charset="0"/>
              <a:buChar char="•"/>
            </a:pPr>
            <a:r>
              <a:rPr lang="en-US" sz="2000" dirty="0">
                <a:solidFill>
                  <a:srgbClr val="FFFFFF"/>
                </a:solidFill>
              </a:rPr>
              <a:t>WEEKEND RENTAL SUMMARY</a:t>
            </a:r>
          </a:p>
          <a:p>
            <a:pPr lvl="0" algn="just">
              <a:lnSpc>
                <a:spcPct val="90000"/>
              </a:lnSpc>
            </a:pPr>
            <a:r>
              <a:rPr lang="en-US" sz="2000" dirty="0">
                <a:solidFill>
                  <a:srgbClr val="FFFFFF"/>
                </a:solidFill>
              </a:rPr>
              <a:t>The total number of bicycle rentals during the weekend reached </a:t>
            </a:r>
            <a:r>
              <a:rPr lang="en-US" sz="2000" b="1" dirty="0">
                <a:solidFill>
                  <a:srgbClr val="FFFFFF"/>
                </a:solidFill>
              </a:rPr>
              <a:t>15,869</a:t>
            </a:r>
            <a:r>
              <a:rPr lang="en-US" sz="2000" dirty="0">
                <a:solidFill>
                  <a:srgbClr val="FFFFFF"/>
                </a:solidFill>
              </a:rPr>
              <a:t>, indicating a lower overall usage compared to weekdays. Nonetheless, there is a significant increase in activity during midday hours, which suggests a rise in leisure and recreational trips during this time.</a:t>
            </a:r>
          </a:p>
          <a:p>
            <a:pPr marL="285750" lvl="0" indent="-285750" algn="just">
              <a:lnSpc>
                <a:spcPct val="90000"/>
              </a:lnSpc>
              <a:buFont typeface="Arial" panose="020B0604020202020204" pitchFamily="34" charset="0"/>
              <a:buChar char="•"/>
            </a:pPr>
            <a:r>
              <a:rPr lang="en-US" sz="2000" dirty="0">
                <a:solidFill>
                  <a:srgbClr val="FFFFFF"/>
                </a:solidFill>
              </a:rPr>
              <a:t>WEEKDAY RENTAL SUMMARY</a:t>
            </a:r>
          </a:p>
          <a:p>
            <a:pPr lvl="0" algn="just">
              <a:lnSpc>
                <a:spcPct val="90000"/>
              </a:lnSpc>
            </a:pPr>
            <a:r>
              <a:rPr lang="en-US" sz="2000" dirty="0">
                <a:solidFill>
                  <a:srgbClr val="FFFFFF"/>
                </a:solidFill>
              </a:rPr>
              <a:t>The analysis of bike rentals reveals that the total number of rentals per weekday varies, with </a:t>
            </a:r>
            <a:r>
              <a:rPr lang="en-US" sz="2000" b="1" dirty="0">
                <a:solidFill>
                  <a:srgbClr val="FFFFFF"/>
                </a:solidFill>
              </a:rPr>
              <a:t>8,121</a:t>
            </a:r>
            <a:r>
              <a:rPr lang="en-US" sz="2000" dirty="0">
                <a:solidFill>
                  <a:srgbClr val="FFFFFF"/>
                </a:solidFill>
              </a:rPr>
              <a:t> rentals occurring on Monday and </a:t>
            </a:r>
            <a:r>
              <a:rPr lang="en-US" sz="2000" b="1" dirty="0">
                <a:solidFill>
                  <a:srgbClr val="FFFFFF"/>
                </a:solidFill>
              </a:rPr>
              <a:t>7,748</a:t>
            </a:r>
            <a:r>
              <a:rPr lang="en-US" sz="2000" dirty="0">
                <a:solidFill>
                  <a:srgbClr val="FFFFFF"/>
                </a:solidFill>
              </a:rPr>
              <a:t> on Sunday. This data indicates a consistent trend of higher bike usage during weekdays, which reflects patterns associated with daily commuting.</a:t>
            </a:r>
          </a:p>
          <a:p>
            <a:pPr>
              <a:lnSpc>
                <a:spcPct val="90000"/>
              </a:lnSpc>
            </a:pPr>
            <a:endParaRPr lang="en-US" sz="2000" dirty="0">
              <a:solidFill>
                <a:srgbClr val="FFFFFF"/>
              </a:solidFill>
            </a:endParaRPr>
          </a:p>
        </p:txBody>
      </p:sp>
    </p:spTree>
    <p:extLst>
      <p:ext uri="{BB962C8B-B14F-4D97-AF65-F5344CB8AC3E}">
        <p14:creationId xmlns:p14="http://schemas.microsoft.com/office/powerpoint/2010/main" val="2686262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B940B2D-8EAE-2F68-0342-26AAA386315F}"/>
              </a:ext>
            </a:extLst>
          </p:cNvPr>
          <p:cNvSpPr>
            <a:spLocks noGrp="1"/>
          </p:cNvSpPr>
          <p:nvPr>
            <p:ph type="title"/>
          </p:nvPr>
        </p:nvSpPr>
        <p:spPr>
          <a:xfrm>
            <a:off x="1024128" y="585216"/>
            <a:ext cx="5867061" cy="1499616"/>
          </a:xfrm>
        </p:spPr>
        <p:txBody>
          <a:bodyPr vert="horz" lIns="91440" tIns="45720" rIns="91440" bIns="45720" rtlCol="0" anchor="ctr">
            <a:normAutofit/>
          </a:bodyPr>
          <a:lstStyle/>
          <a:p>
            <a:r>
              <a:rPr lang="en-US" sz="5000"/>
              <a:t>Daily rental volume</a:t>
            </a:r>
          </a:p>
        </p:txBody>
      </p:sp>
      <p:pic>
        <p:nvPicPr>
          <p:cNvPr id="6" name="Content Placeholder 5">
            <a:extLst>
              <a:ext uri="{FF2B5EF4-FFF2-40B4-BE49-F238E27FC236}">
                <a16:creationId xmlns:a16="http://schemas.microsoft.com/office/drawing/2014/main" id="{B34F38B7-0EDC-83FA-7567-8E3BF97861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4128" y="2527652"/>
            <a:ext cx="5867061" cy="3402895"/>
          </a:xfrm>
          <a:prstGeom prst="rect">
            <a:avLst/>
          </a:prstGeom>
        </p:spPr>
      </p:pic>
      <p:sp>
        <p:nvSpPr>
          <p:cNvPr id="26" name="Rectangle 25">
            <a:extLst>
              <a:ext uri="{FF2B5EF4-FFF2-40B4-BE49-F238E27FC236}">
                <a16:creationId xmlns:a16="http://schemas.microsoft.com/office/drawing/2014/main" id="{CA4D39DB-AFA4-47BA-A7F2-13A71D210C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2"/>
            <a:ext cx="4657344"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227B895E-F6E1-1C89-9F24-9D49CBAA4972}"/>
              </a:ext>
            </a:extLst>
          </p:cNvPr>
          <p:cNvSpPr>
            <a:spLocks noGrp="1"/>
          </p:cNvSpPr>
          <p:nvPr>
            <p:ph type="body" sz="half" idx="2"/>
          </p:nvPr>
        </p:nvSpPr>
        <p:spPr>
          <a:xfrm>
            <a:off x="7534656" y="0"/>
            <a:ext cx="4657344" cy="6858000"/>
          </a:xfrm>
        </p:spPr>
        <p:txBody>
          <a:bodyPr vert="horz" lIns="45720" tIns="45720" rIns="45720" bIns="45720" rtlCol="0" anchor="ctr">
            <a:normAutofit/>
          </a:bodyPr>
          <a:lstStyle/>
          <a:p>
            <a:pPr algn="just">
              <a:lnSpc>
                <a:spcPct val="90000"/>
              </a:lnSpc>
            </a:pPr>
            <a:r>
              <a:rPr lang="en-US" sz="2800" dirty="0">
                <a:solidFill>
                  <a:srgbClr val="FFFFFF"/>
                </a:solidFill>
              </a:rPr>
              <a:t>The data highlights fluctuations and trends in rental activity over the two months. Noticeable patterns include a progressive increase in rentals on certain dates, indicating the influence of weekends. The chart helps to understand the daily demand dynamics of rentals, identify peak usage days, and assess variability in rental volume</a:t>
            </a:r>
          </a:p>
        </p:txBody>
      </p:sp>
    </p:spTree>
    <p:extLst>
      <p:ext uri="{BB962C8B-B14F-4D97-AF65-F5344CB8AC3E}">
        <p14:creationId xmlns:p14="http://schemas.microsoft.com/office/powerpoint/2010/main" val="741579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59F37FA-33BD-3092-8EEC-7F1BA0C2579C}"/>
              </a:ext>
            </a:extLst>
          </p:cNvPr>
          <p:cNvSpPr>
            <a:spLocks noGrp="1"/>
          </p:cNvSpPr>
          <p:nvPr>
            <p:ph type="title"/>
          </p:nvPr>
        </p:nvSpPr>
        <p:spPr>
          <a:xfrm>
            <a:off x="1024128" y="585216"/>
            <a:ext cx="5867061" cy="1499616"/>
          </a:xfrm>
        </p:spPr>
        <p:txBody>
          <a:bodyPr vert="horz" lIns="91440" tIns="45720" rIns="91440" bIns="45720" rtlCol="0" anchor="ctr">
            <a:normAutofit/>
          </a:bodyPr>
          <a:lstStyle/>
          <a:p>
            <a:r>
              <a:rPr lang="en-US" sz="5000"/>
              <a:t>Weather impact: rentals by weather situations</a:t>
            </a:r>
          </a:p>
        </p:txBody>
      </p:sp>
      <p:pic>
        <p:nvPicPr>
          <p:cNvPr id="14" name="Content Placeholder 13">
            <a:extLst>
              <a:ext uri="{FF2B5EF4-FFF2-40B4-BE49-F238E27FC236}">
                <a16:creationId xmlns:a16="http://schemas.microsoft.com/office/drawing/2014/main" id="{FDA039F8-A22F-62DF-9802-9C89AA3D76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4128" y="2269475"/>
            <a:ext cx="6510528" cy="3349127"/>
          </a:xfrm>
          <a:prstGeom prst="rect">
            <a:avLst/>
          </a:prstGeom>
        </p:spPr>
      </p:pic>
      <p:sp>
        <p:nvSpPr>
          <p:cNvPr id="26" name="Rectangle 25">
            <a:extLst>
              <a:ext uri="{FF2B5EF4-FFF2-40B4-BE49-F238E27FC236}">
                <a16:creationId xmlns:a16="http://schemas.microsoft.com/office/drawing/2014/main" id="{CA4D39DB-AFA4-47BA-A7F2-13A71D210C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2"/>
            <a:ext cx="4657344"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9FF88EFD-708A-35B3-1ED2-35EDBDF127C3}"/>
              </a:ext>
            </a:extLst>
          </p:cNvPr>
          <p:cNvSpPr>
            <a:spLocks noGrp="1"/>
          </p:cNvSpPr>
          <p:nvPr>
            <p:ph type="body" sz="half" idx="2"/>
          </p:nvPr>
        </p:nvSpPr>
        <p:spPr>
          <a:xfrm>
            <a:off x="7534656" y="0"/>
            <a:ext cx="4657344" cy="6858000"/>
          </a:xfrm>
        </p:spPr>
        <p:txBody>
          <a:bodyPr vert="horz" lIns="45720" tIns="45720" rIns="45720" bIns="45720" rtlCol="0" anchor="ctr">
            <a:normAutofit/>
          </a:bodyPr>
          <a:lstStyle/>
          <a:p>
            <a:pPr algn="just">
              <a:lnSpc>
                <a:spcPct val="90000"/>
              </a:lnSpc>
            </a:pPr>
            <a:r>
              <a:rPr lang="en-US" sz="2800" dirty="0">
                <a:solidFill>
                  <a:srgbClr val="FFFFFF"/>
                </a:solidFill>
              </a:rPr>
              <a:t>The chart illustrates the number of rentals categorized by different weather situations. It reveals how weather conditions influence rental activity, highlighting trends such as a strong preference for clear skies, with substantially fewer rentals during heavy rain.</a:t>
            </a:r>
          </a:p>
        </p:txBody>
      </p:sp>
    </p:spTree>
    <p:extLst>
      <p:ext uri="{BB962C8B-B14F-4D97-AF65-F5344CB8AC3E}">
        <p14:creationId xmlns:p14="http://schemas.microsoft.com/office/powerpoint/2010/main" val="376090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C6AD2-799F-DF26-37E7-6B5589DDBEE3}"/>
              </a:ext>
            </a:extLst>
          </p:cNvPr>
          <p:cNvSpPr>
            <a:spLocks noGrp="1"/>
          </p:cNvSpPr>
          <p:nvPr>
            <p:ph type="title"/>
          </p:nvPr>
        </p:nvSpPr>
        <p:spPr/>
        <p:txBody>
          <a:bodyPr/>
          <a:lstStyle/>
          <a:p>
            <a:pPr algn="ctr"/>
            <a:r>
              <a:rPr lang="en-IN" dirty="0">
                <a:solidFill>
                  <a:srgbClr val="002060"/>
                </a:solidFill>
              </a:rPr>
              <a:t>TEMPERATURE AND HUMIDITY EFFECTS</a:t>
            </a:r>
          </a:p>
        </p:txBody>
      </p:sp>
      <p:sp>
        <p:nvSpPr>
          <p:cNvPr id="4" name="Text Placeholder 3">
            <a:extLst>
              <a:ext uri="{FF2B5EF4-FFF2-40B4-BE49-F238E27FC236}">
                <a16:creationId xmlns:a16="http://schemas.microsoft.com/office/drawing/2014/main" id="{E1BA8A42-F320-69A3-97D5-8BC9DBA12336}"/>
              </a:ext>
            </a:extLst>
          </p:cNvPr>
          <p:cNvSpPr>
            <a:spLocks noGrp="1"/>
          </p:cNvSpPr>
          <p:nvPr>
            <p:ph type="body" sz="half" idx="2"/>
          </p:nvPr>
        </p:nvSpPr>
        <p:spPr>
          <a:xfrm>
            <a:off x="751114" y="2257505"/>
            <a:ext cx="4662134" cy="4506851"/>
          </a:xfrm>
        </p:spPr>
        <p:txBody>
          <a:bodyPr>
            <a:normAutofit/>
          </a:bodyPr>
          <a:lstStyle/>
          <a:p>
            <a:pPr marL="285750" indent="-285750" algn="just">
              <a:buFontTx/>
              <a:buChar char="-"/>
            </a:pPr>
            <a:r>
              <a:rPr lang="en-US" sz="1800" dirty="0"/>
              <a:t>Data reveals a clear trend indicating that bike rentals decline as humidity levels increase. </a:t>
            </a:r>
          </a:p>
          <a:p>
            <a:pPr marL="285750" indent="-285750" algn="just">
              <a:buFontTx/>
              <a:buChar char="-"/>
            </a:pPr>
            <a:r>
              <a:rPr lang="en-US" sz="1800" dirty="0"/>
              <a:t> This inverse relationship suggests that higher humidity likely discourages rentals due to discomfort or adverse weather conditions.  </a:t>
            </a:r>
          </a:p>
          <a:p>
            <a:pPr marL="285750" indent="-285750" algn="just">
              <a:buFontTx/>
              <a:buChar char="-"/>
            </a:pPr>
            <a:r>
              <a:rPr lang="en-US" sz="1800" dirty="0"/>
              <a:t> Observations also show that rental activity decreases when temperatures either rise or fall significantly. </a:t>
            </a:r>
          </a:p>
          <a:p>
            <a:pPr marL="285750" indent="-285750" algn="just">
              <a:buFontTx/>
              <a:buChar char="-"/>
            </a:pPr>
            <a:r>
              <a:rPr lang="en-US" sz="1800" dirty="0"/>
              <a:t> Understanding these correlations is crucial for businesses to effectively anticipate and manage bike rental operations under varying weather conditions. </a:t>
            </a:r>
            <a:endParaRPr lang="en-IN" sz="1800" dirty="0"/>
          </a:p>
        </p:txBody>
      </p:sp>
      <p:pic>
        <p:nvPicPr>
          <p:cNvPr id="10" name="Content Placeholder 9">
            <a:extLst>
              <a:ext uri="{FF2B5EF4-FFF2-40B4-BE49-F238E27FC236}">
                <a16:creationId xmlns:a16="http://schemas.microsoft.com/office/drawing/2014/main" id="{81A12311-4EEA-679A-E8BE-79152298E4A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182" t="32103" r="29914" b="10499"/>
          <a:stretch>
            <a:fillRect/>
          </a:stretch>
        </p:blipFill>
        <p:spPr>
          <a:xfrm>
            <a:off x="5302954" y="93644"/>
            <a:ext cx="6889046" cy="3090231"/>
          </a:xfrm>
          <a:prstGeom prst="rect">
            <a:avLst/>
          </a:prstGeom>
        </p:spPr>
      </p:pic>
      <p:pic>
        <p:nvPicPr>
          <p:cNvPr id="12" name="Picture 11">
            <a:extLst>
              <a:ext uri="{FF2B5EF4-FFF2-40B4-BE49-F238E27FC236}">
                <a16:creationId xmlns:a16="http://schemas.microsoft.com/office/drawing/2014/main" id="{5895F009-9595-D34E-AAE6-A742E0E79258}"/>
              </a:ext>
            </a:extLst>
          </p:cNvPr>
          <p:cNvPicPr>
            <a:picLocks noChangeAspect="1"/>
          </p:cNvPicPr>
          <p:nvPr/>
        </p:nvPicPr>
        <p:blipFill>
          <a:blip r:embed="rId3">
            <a:extLst>
              <a:ext uri="{28A0092B-C50C-407E-A947-70E740481C1C}">
                <a14:useLocalDpi xmlns:a14="http://schemas.microsoft.com/office/drawing/2010/main" val="0"/>
              </a:ext>
            </a:extLst>
          </a:blip>
          <a:srcRect l="1897" t="36185" r="32771" b="9155"/>
          <a:stretch>
            <a:fillRect/>
          </a:stretch>
        </p:blipFill>
        <p:spPr>
          <a:xfrm>
            <a:off x="5413248" y="3183875"/>
            <a:ext cx="6778752" cy="3536414"/>
          </a:xfrm>
          <a:prstGeom prst="rect">
            <a:avLst/>
          </a:prstGeom>
        </p:spPr>
      </p:pic>
    </p:spTree>
    <p:extLst>
      <p:ext uri="{BB962C8B-B14F-4D97-AF65-F5344CB8AC3E}">
        <p14:creationId xmlns:p14="http://schemas.microsoft.com/office/powerpoint/2010/main" val="16948817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2510596-3E49-2F59-BEC7-4C35C16BAA31}"/>
              </a:ext>
            </a:extLst>
          </p:cNvPr>
          <p:cNvSpPr>
            <a:spLocks noGrp="1"/>
          </p:cNvSpPr>
          <p:nvPr>
            <p:ph type="title"/>
          </p:nvPr>
        </p:nvSpPr>
        <p:spPr>
          <a:xfrm>
            <a:off x="0" y="0"/>
            <a:ext cx="12192000" cy="822960"/>
          </a:xfrm>
        </p:spPr>
        <p:txBody>
          <a:bodyPr/>
          <a:lstStyle/>
          <a:p>
            <a:pPr algn="ctr"/>
            <a:r>
              <a:rPr lang="en-IN" dirty="0"/>
              <a:t>WINDSPEED AND HOLIDAY RELATION WITH RENTALS</a:t>
            </a:r>
          </a:p>
        </p:txBody>
      </p:sp>
      <p:sp>
        <p:nvSpPr>
          <p:cNvPr id="6" name="Text Placeholder 5">
            <a:extLst>
              <a:ext uri="{FF2B5EF4-FFF2-40B4-BE49-F238E27FC236}">
                <a16:creationId xmlns:a16="http://schemas.microsoft.com/office/drawing/2014/main" id="{F3AD9877-D50B-BC5C-AEAF-5B758B95C416}"/>
              </a:ext>
            </a:extLst>
          </p:cNvPr>
          <p:cNvSpPr>
            <a:spLocks noGrp="1"/>
          </p:cNvSpPr>
          <p:nvPr>
            <p:ph type="body" idx="1"/>
          </p:nvPr>
        </p:nvSpPr>
        <p:spPr>
          <a:xfrm>
            <a:off x="1024128" y="854307"/>
            <a:ext cx="4754880" cy="822960"/>
          </a:xfrm>
        </p:spPr>
        <p:txBody>
          <a:bodyPr>
            <a:normAutofit/>
          </a:bodyPr>
          <a:lstStyle/>
          <a:p>
            <a:pPr algn="ctr"/>
            <a:r>
              <a:rPr lang="en-IN" sz="2800" b="1" dirty="0"/>
              <a:t>WINDSPEED</a:t>
            </a:r>
          </a:p>
        </p:txBody>
      </p:sp>
      <p:sp>
        <p:nvSpPr>
          <p:cNvPr id="7" name="Content Placeholder 6">
            <a:extLst>
              <a:ext uri="{FF2B5EF4-FFF2-40B4-BE49-F238E27FC236}">
                <a16:creationId xmlns:a16="http://schemas.microsoft.com/office/drawing/2014/main" id="{F2458E41-3FAF-91EB-AAA0-FB0D3E041689}"/>
              </a:ext>
            </a:extLst>
          </p:cNvPr>
          <p:cNvSpPr>
            <a:spLocks noGrp="1"/>
          </p:cNvSpPr>
          <p:nvPr>
            <p:ph sz="half" idx="2"/>
          </p:nvPr>
        </p:nvSpPr>
        <p:spPr>
          <a:xfrm>
            <a:off x="1024128" y="1828800"/>
            <a:ext cx="4754880" cy="4480560"/>
          </a:xfrm>
        </p:spPr>
        <p:txBody>
          <a:bodyPr/>
          <a:lstStyle/>
          <a:p>
            <a:pPr algn="just">
              <a:buFont typeface="Wingdings" panose="05000000000000000000" pitchFamily="2" charset="2"/>
              <a:buChar char="q"/>
            </a:pPr>
            <a:r>
              <a:rPr lang="en-IN" dirty="0"/>
              <a:t>The windspeed ranges between 0.16 and 0.22, showing that the highest bike rental activity, peaking at 0.20. This indicates that moderate winds may encourage more rentals, possibly due to favourable cycling conditions and increased comfort.</a:t>
            </a:r>
          </a:p>
        </p:txBody>
      </p:sp>
      <p:sp>
        <p:nvSpPr>
          <p:cNvPr id="8" name="Text Placeholder 7">
            <a:extLst>
              <a:ext uri="{FF2B5EF4-FFF2-40B4-BE49-F238E27FC236}">
                <a16:creationId xmlns:a16="http://schemas.microsoft.com/office/drawing/2014/main" id="{018BA15D-0E6D-6D97-DFC8-4891D811445D}"/>
              </a:ext>
            </a:extLst>
          </p:cNvPr>
          <p:cNvSpPr>
            <a:spLocks noGrp="1"/>
          </p:cNvSpPr>
          <p:nvPr>
            <p:ph type="body" sz="quarter" idx="3"/>
          </p:nvPr>
        </p:nvSpPr>
        <p:spPr>
          <a:xfrm>
            <a:off x="5990888" y="854307"/>
            <a:ext cx="4754880" cy="822960"/>
          </a:xfrm>
        </p:spPr>
        <p:txBody>
          <a:bodyPr>
            <a:normAutofit/>
          </a:bodyPr>
          <a:lstStyle/>
          <a:p>
            <a:pPr algn="ctr"/>
            <a:r>
              <a:rPr lang="en-IN" sz="2800" b="1" dirty="0"/>
              <a:t>HOLIDAY</a:t>
            </a:r>
          </a:p>
        </p:txBody>
      </p:sp>
      <p:sp>
        <p:nvSpPr>
          <p:cNvPr id="9" name="Content Placeholder 8">
            <a:extLst>
              <a:ext uri="{FF2B5EF4-FFF2-40B4-BE49-F238E27FC236}">
                <a16:creationId xmlns:a16="http://schemas.microsoft.com/office/drawing/2014/main" id="{EEAAE7B0-1F0D-EA48-FE37-2865FDF80048}"/>
              </a:ext>
            </a:extLst>
          </p:cNvPr>
          <p:cNvSpPr>
            <a:spLocks noGrp="1"/>
          </p:cNvSpPr>
          <p:nvPr>
            <p:ph sz="quarter" idx="4"/>
          </p:nvPr>
        </p:nvSpPr>
        <p:spPr>
          <a:xfrm>
            <a:off x="5990888" y="1828800"/>
            <a:ext cx="4754880" cy="4480560"/>
          </a:xfrm>
        </p:spPr>
        <p:txBody>
          <a:bodyPr/>
          <a:lstStyle/>
          <a:p>
            <a:pPr algn="just">
              <a:buFont typeface="Wingdings" panose="05000000000000000000" pitchFamily="2" charset="2"/>
              <a:buChar char="q"/>
            </a:pPr>
            <a:r>
              <a:rPr lang="en-IN" dirty="0"/>
              <a:t>Rental shows notable peaks on holidays, surpassing weekdays and weekends. This indicates that holidays significantly influence rentals, interacting uniquely with regular weekly trends</a:t>
            </a:r>
          </a:p>
          <a:p>
            <a:pPr algn="just">
              <a:buFont typeface="Wingdings" panose="05000000000000000000" pitchFamily="2" charset="2"/>
              <a:buChar char="q"/>
            </a:pPr>
            <a:r>
              <a:rPr lang="en-IN" b="1" dirty="0"/>
              <a:t>Operational implications-</a:t>
            </a:r>
            <a:r>
              <a:rPr lang="en-IN" dirty="0"/>
              <a:t>  These periods demand strategic operational adjustments to handle increased volumes.</a:t>
            </a:r>
          </a:p>
          <a:p>
            <a:pPr algn="just"/>
            <a:r>
              <a:rPr lang="en-IN" dirty="0"/>
              <a:t>Efficient redistribution of bikes is essential to meet elevated holiday demand and maintain service quality.</a:t>
            </a:r>
          </a:p>
        </p:txBody>
      </p:sp>
    </p:spTree>
    <p:extLst>
      <p:ext uri="{BB962C8B-B14F-4D97-AF65-F5344CB8AC3E}">
        <p14:creationId xmlns:p14="http://schemas.microsoft.com/office/powerpoint/2010/main" val="464224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0C113-2A75-D624-11AD-94733D09AD96}"/>
              </a:ext>
            </a:extLst>
          </p:cNvPr>
          <p:cNvSpPr>
            <a:spLocks noGrp="1"/>
          </p:cNvSpPr>
          <p:nvPr>
            <p:ph type="title"/>
          </p:nvPr>
        </p:nvSpPr>
        <p:spPr>
          <a:xfrm>
            <a:off x="1024128" y="397929"/>
            <a:ext cx="9720072" cy="1499616"/>
          </a:xfrm>
        </p:spPr>
        <p:txBody>
          <a:bodyPr/>
          <a:lstStyle/>
          <a:p>
            <a:pPr algn="ctr"/>
            <a:r>
              <a:rPr lang="en-IN" dirty="0"/>
              <a:t>Key findings summary</a:t>
            </a:r>
          </a:p>
        </p:txBody>
      </p:sp>
      <p:sp>
        <p:nvSpPr>
          <p:cNvPr id="7" name="Content Placeholder 6">
            <a:extLst>
              <a:ext uri="{FF2B5EF4-FFF2-40B4-BE49-F238E27FC236}">
                <a16:creationId xmlns:a16="http://schemas.microsoft.com/office/drawing/2014/main" id="{DDBF415D-3EA2-DBB8-8368-BC332B4E8C09}"/>
              </a:ext>
            </a:extLst>
          </p:cNvPr>
          <p:cNvSpPr>
            <a:spLocks noGrp="1"/>
          </p:cNvSpPr>
          <p:nvPr>
            <p:ph idx="1"/>
          </p:nvPr>
        </p:nvSpPr>
        <p:spPr>
          <a:xfrm>
            <a:off x="1024128" y="1696598"/>
            <a:ext cx="9720073" cy="4612762"/>
          </a:xfrm>
        </p:spPr>
        <p:txBody>
          <a:bodyPr>
            <a:normAutofit/>
          </a:bodyPr>
          <a:lstStyle/>
          <a:p>
            <a:pPr algn="just">
              <a:buFont typeface="Wingdings" panose="05000000000000000000" pitchFamily="2" charset="2"/>
              <a:buChar char="Ø"/>
            </a:pPr>
            <a:r>
              <a:rPr lang="en-IN" dirty="0"/>
              <a:t>Bike rentals reach their peak between </a:t>
            </a:r>
            <a:r>
              <a:rPr lang="en-IN" b="1" dirty="0">
                <a:solidFill>
                  <a:schemeClr val="accent2"/>
                </a:solidFill>
              </a:rPr>
              <a:t>8 AM and 5 PM</a:t>
            </a:r>
            <a:r>
              <a:rPr lang="en-IN" dirty="0"/>
              <a:t>, aligning with commuter hours, where </a:t>
            </a:r>
            <a:r>
              <a:rPr lang="en-IN" b="1" dirty="0">
                <a:solidFill>
                  <a:schemeClr val="accent2"/>
                </a:solidFill>
              </a:rPr>
              <a:t>77</a:t>
            </a:r>
            <a:r>
              <a:rPr lang="en-IN" dirty="0"/>
              <a:t> hours are noted to have rental(</a:t>
            </a:r>
            <a:r>
              <a:rPr lang="en-IN" dirty="0" err="1"/>
              <a:t>cnt</a:t>
            </a:r>
            <a:r>
              <a:rPr lang="en-IN" dirty="0"/>
              <a:t>) above </a:t>
            </a:r>
            <a:r>
              <a:rPr lang="en-IN" b="1" dirty="0">
                <a:solidFill>
                  <a:schemeClr val="accent2"/>
                </a:solidFill>
              </a:rPr>
              <a:t>150</a:t>
            </a:r>
            <a:r>
              <a:rPr lang="en-IN" dirty="0"/>
              <a:t>, and the total of these rentals came out to be </a:t>
            </a:r>
            <a:r>
              <a:rPr lang="en-IN" b="1" dirty="0">
                <a:solidFill>
                  <a:schemeClr val="accent2"/>
                </a:solidFill>
              </a:rPr>
              <a:t>14,027</a:t>
            </a:r>
            <a:r>
              <a:rPr lang="en-IN" dirty="0"/>
              <a:t>.</a:t>
            </a:r>
          </a:p>
          <a:p>
            <a:pPr algn="just">
              <a:buFont typeface="Wingdings" panose="05000000000000000000" pitchFamily="2" charset="2"/>
              <a:buChar char="Ø"/>
            </a:pPr>
            <a:r>
              <a:rPr lang="en-IN" dirty="0"/>
              <a:t>Weekday and weekend rentals total </a:t>
            </a:r>
            <a:r>
              <a:rPr lang="en-IN" b="1" dirty="0">
                <a:solidFill>
                  <a:schemeClr val="accent2"/>
                </a:solidFill>
              </a:rPr>
              <a:t>42,425</a:t>
            </a:r>
            <a:r>
              <a:rPr lang="en-IN" dirty="0"/>
              <a:t> and </a:t>
            </a:r>
            <a:r>
              <a:rPr lang="en-IN" b="1" dirty="0">
                <a:solidFill>
                  <a:schemeClr val="accent2"/>
                </a:solidFill>
              </a:rPr>
              <a:t>15,869</a:t>
            </a:r>
            <a:r>
              <a:rPr lang="en-IN" dirty="0"/>
              <a:t>, respectively.</a:t>
            </a:r>
          </a:p>
          <a:p>
            <a:pPr algn="just">
              <a:buFont typeface="Wingdings" panose="05000000000000000000" pitchFamily="2" charset="2"/>
              <a:buChar char="Ø"/>
            </a:pPr>
            <a:r>
              <a:rPr lang="en-IN" dirty="0"/>
              <a:t>Favourable weather conditions, such as clear skies and moderate temperatures around the normalized </a:t>
            </a:r>
            <a:r>
              <a:rPr lang="en-IN" b="1" dirty="0">
                <a:solidFill>
                  <a:schemeClr val="accent2"/>
                </a:solidFill>
              </a:rPr>
              <a:t>average of 0.2</a:t>
            </a:r>
            <a:r>
              <a:rPr lang="en-IN" dirty="0"/>
              <a:t>, significantly boost rental activity.</a:t>
            </a:r>
          </a:p>
          <a:p>
            <a:pPr algn="just">
              <a:buFont typeface="Wingdings" panose="05000000000000000000" pitchFamily="2" charset="2"/>
              <a:buChar char="Ø"/>
            </a:pPr>
            <a:r>
              <a:rPr lang="en-IN" dirty="0"/>
              <a:t> Elevated humidity levels exhibit a dampening effect on usage. Casual users show more sensitivity to temperature change, with a </a:t>
            </a:r>
            <a:r>
              <a:rPr lang="en-IN" b="1" dirty="0">
                <a:solidFill>
                  <a:schemeClr val="accent2"/>
                </a:solidFill>
              </a:rPr>
              <a:t>correlation coefficient of 0.47</a:t>
            </a:r>
            <a:r>
              <a:rPr lang="en-IN" dirty="0"/>
              <a:t>, compared to registered users, signalling that weather influences casual rentals more strongly.</a:t>
            </a:r>
          </a:p>
        </p:txBody>
      </p:sp>
    </p:spTree>
    <p:extLst>
      <p:ext uri="{BB962C8B-B14F-4D97-AF65-F5344CB8AC3E}">
        <p14:creationId xmlns:p14="http://schemas.microsoft.com/office/powerpoint/2010/main" val="11194996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8A1DE-438C-6A9F-C877-40D89EE88087}"/>
              </a:ext>
            </a:extLst>
          </p:cNvPr>
          <p:cNvSpPr>
            <a:spLocks noGrp="1"/>
          </p:cNvSpPr>
          <p:nvPr>
            <p:ph type="title"/>
          </p:nvPr>
        </p:nvSpPr>
        <p:spPr/>
        <p:txBody>
          <a:bodyPr/>
          <a:lstStyle/>
          <a:p>
            <a:pPr algn="ctr"/>
            <a:r>
              <a:rPr lang="en-IN" dirty="0"/>
              <a:t>ACTIONABLE RECOMMENDATIONS</a:t>
            </a:r>
          </a:p>
        </p:txBody>
      </p:sp>
      <p:sp>
        <p:nvSpPr>
          <p:cNvPr id="5" name="Content Placeholder 4">
            <a:extLst>
              <a:ext uri="{FF2B5EF4-FFF2-40B4-BE49-F238E27FC236}">
                <a16:creationId xmlns:a16="http://schemas.microsoft.com/office/drawing/2014/main" id="{F5D29016-B2AF-BC5E-F825-393B6506A5F3}"/>
              </a:ext>
            </a:extLst>
          </p:cNvPr>
          <p:cNvSpPr>
            <a:spLocks noGrp="1"/>
          </p:cNvSpPr>
          <p:nvPr>
            <p:ph sz="half" idx="1"/>
          </p:nvPr>
        </p:nvSpPr>
        <p:spPr/>
        <p:txBody>
          <a:bodyPr>
            <a:normAutofit/>
          </a:bodyPr>
          <a:lstStyle/>
          <a:p>
            <a:pPr algn="ctr"/>
            <a:r>
              <a:rPr lang="en-IN" sz="2400" dirty="0"/>
              <a:t> OPTIMIZE AVAILABILITY</a:t>
            </a:r>
          </a:p>
          <a:p>
            <a:pPr algn="just">
              <a:buFont typeface="Wingdings" panose="05000000000000000000" pitchFamily="2" charset="2"/>
              <a:buChar char="v"/>
            </a:pPr>
            <a:r>
              <a:rPr lang="en-IN" sz="2400" dirty="0"/>
              <a:t>Prioritize bike availability from 8 AM to 5 PM on weekdays to align with the peak usage by registered users to display consistent demand throughout the timeline</a:t>
            </a:r>
          </a:p>
          <a:p>
            <a:pPr algn="just">
              <a:buFont typeface="Wingdings" panose="05000000000000000000" pitchFamily="2" charset="2"/>
              <a:buChar char="v"/>
            </a:pPr>
            <a:r>
              <a:rPr lang="en-IN" sz="2400" dirty="0"/>
              <a:t>This focus supports efficient bike distribution and maximizes utilization during high-demands</a:t>
            </a:r>
          </a:p>
        </p:txBody>
      </p:sp>
      <p:sp>
        <p:nvSpPr>
          <p:cNvPr id="6" name="Content Placeholder 5">
            <a:extLst>
              <a:ext uri="{FF2B5EF4-FFF2-40B4-BE49-F238E27FC236}">
                <a16:creationId xmlns:a16="http://schemas.microsoft.com/office/drawing/2014/main" id="{B345E0D5-AA37-4F32-7E08-AEADD0885079}"/>
              </a:ext>
            </a:extLst>
          </p:cNvPr>
          <p:cNvSpPr>
            <a:spLocks noGrp="1"/>
          </p:cNvSpPr>
          <p:nvPr>
            <p:ph sz="half" idx="2"/>
          </p:nvPr>
        </p:nvSpPr>
        <p:spPr/>
        <p:txBody>
          <a:bodyPr>
            <a:normAutofit/>
          </a:bodyPr>
          <a:lstStyle/>
          <a:p>
            <a:pPr algn="ctr"/>
            <a:r>
              <a:rPr lang="en-IN" sz="2400" dirty="0"/>
              <a:t>LEVERAGE INSIGHTS</a:t>
            </a:r>
          </a:p>
          <a:p>
            <a:pPr algn="just">
              <a:buFont typeface="Wingdings" panose="05000000000000000000" pitchFamily="2" charset="2"/>
              <a:buChar char="v"/>
            </a:pPr>
            <a:r>
              <a:rPr lang="en-IN" sz="2400" dirty="0"/>
              <a:t>Promote casual riding on warm, low-humidity days by leveraging targeted customer campaigns and dynamic pricing strategies.</a:t>
            </a:r>
          </a:p>
          <a:p>
            <a:pPr algn="just">
              <a:buFont typeface="Wingdings" panose="05000000000000000000" pitchFamily="2" charset="2"/>
              <a:buChar char="v"/>
            </a:pPr>
            <a:r>
              <a:rPr lang="en-IN" sz="2400" dirty="0"/>
              <a:t>By capitalizing on favourable weather conditions, the program can efficiently boost user engagement and overall rental volumes</a:t>
            </a:r>
          </a:p>
        </p:txBody>
      </p:sp>
    </p:spTree>
    <p:extLst>
      <p:ext uri="{BB962C8B-B14F-4D97-AF65-F5344CB8AC3E}">
        <p14:creationId xmlns:p14="http://schemas.microsoft.com/office/powerpoint/2010/main" val="2812183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DA6871-3D48-1327-E754-AC025375512F}"/>
              </a:ext>
            </a:extLst>
          </p:cNvPr>
          <p:cNvSpPr txBox="1"/>
          <p:nvPr/>
        </p:nvSpPr>
        <p:spPr>
          <a:xfrm>
            <a:off x="2368627" y="958467"/>
            <a:ext cx="6929609" cy="2594813"/>
          </a:xfrm>
          <a:prstGeom prst="rect">
            <a:avLst/>
          </a:prstGeom>
          <a:noFill/>
        </p:spPr>
        <p:txBody>
          <a:bodyPr wrap="square" rtlCol="0">
            <a:spAutoFit/>
          </a:bodyPr>
          <a:lstStyle/>
          <a:p>
            <a:pPr algn="ctr">
              <a:lnSpc>
                <a:spcPct val="300000"/>
              </a:lnSpc>
            </a:pPr>
            <a:r>
              <a:rPr lang="en-IN" sz="6600" dirty="0">
                <a:solidFill>
                  <a:schemeClr val="accent2"/>
                </a:solidFill>
              </a:rPr>
              <a:t>THANK YOU</a:t>
            </a:r>
          </a:p>
        </p:txBody>
      </p:sp>
    </p:spTree>
    <p:extLst>
      <p:ext uri="{BB962C8B-B14F-4D97-AF65-F5344CB8AC3E}">
        <p14:creationId xmlns:p14="http://schemas.microsoft.com/office/powerpoint/2010/main" val="41498210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809</TotalTime>
  <Words>1052</Words>
  <Application>Microsoft Office PowerPoint</Application>
  <PresentationFormat>Widescreen</PresentationFormat>
  <Paragraphs>58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Tw Cen MT</vt:lpstr>
      <vt:lpstr>Tw Cen MT Condensed</vt:lpstr>
      <vt:lpstr>Wingdings</vt:lpstr>
      <vt:lpstr>Wingdings 3</vt:lpstr>
      <vt:lpstr>Integral</vt:lpstr>
      <vt:lpstr>BIKE RENTAL ANALYSIS </vt:lpstr>
      <vt:lpstr>Datasets and objectives</vt:lpstr>
      <vt:lpstr>Data analysis and visualization</vt:lpstr>
      <vt:lpstr>DASHBOARD</vt:lpstr>
      <vt:lpstr>TOTAL RENTALS AND USER SEGMENTS…</vt:lpstr>
      <vt:lpstr>HOURLY RENTAL TRENDS AND PEAK TIMES</vt:lpstr>
      <vt:lpstr>Weekend vs weekday patterns</vt:lpstr>
      <vt:lpstr>Daily rental volume</vt:lpstr>
      <vt:lpstr>Weather impact: rentals by weather situations</vt:lpstr>
      <vt:lpstr>TEMPERATURE AND HUMIDITY EFFECTS</vt:lpstr>
      <vt:lpstr>WINDSPEED AND HOLIDAY RELATION WITH RENTALS</vt:lpstr>
      <vt:lpstr>Key findings summary</vt:lpstr>
      <vt:lpstr>ACTIONABLE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Riya Goel</dc:creator>
  <cp:lastModifiedBy>Riya Goel</cp:lastModifiedBy>
  <cp:revision>9</cp:revision>
  <dcterms:created xsi:type="dcterms:W3CDTF">2026-03-24T04:48:07Z</dcterms:created>
  <dcterms:modified xsi:type="dcterms:W3CDTF">2026-03-24T19:22:47Z</dcterms:modified>
</cp:coreProperties>
</file>